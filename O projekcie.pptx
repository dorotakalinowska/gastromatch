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6" d="100"/>
          <a:sy n="136" d="100"/>
        </p:scale>
        <p:origin x="1572" y="-4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52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23">
            <a:extLst>
              <a:ext uri="{FF2B5EF4-FFF2-40B4-BE49-F238E27FC236}">
                <a16:creationId xmlns:a16="http://schemas.microsoft.com/office/drawing/2014/main" id="{3363C824-A70E-161A-CC64-1EF06E8370D2}"/>
              </a:ext>
            </a:extLst>
          </p:cNvPr>
          <p:cNvSpPr/>
          <p:nvPr/>
        </p:nvSpPr>
        <p:spPr>
          <a:xfrm>
            <a:off x="352044" y="2857217"/>
            <a:ext cx="3364992" cy="1115568"/>
          </a:xfrm>
          <a:prstGeom prst="roundRect">
            <a:avLst>
              <a:gd name="adj" fmla="val 12295"/>
            </a:avLst>
          </a:prstGeom>
          <a:solidFill>
            <a:srgbClr val="EAF7EA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3" name="Shape 1"/>
          <p:cNvSpPr/>
          <p:nvPr/>
        </p:nvSpPr>
        <p:spPr>
          <a:xfrm>
            <a:off x="288269" y="323932"/>
            <a:ext cx="640080" cy="604536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03537" y="454855"/>
            <a:ext cx="409078" cy="316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233172"/>
            <a:ext cx="3840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GastroMatch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67738" y="600926"/>
            <a:ext cx="4480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Asystent wyboru diety i wariantu paczki dla Gastro Paczki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1067738" y="86565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Autor: Dorota Kalinowska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1799303" y="1425765"/>
            <a:ext cx="932688" cy="1393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710" dirty="0"/>
          </a:p>
        </p:txBody>
      </p:sp>
      <p:sp>
        <p:nvSpPr>
          <p:cNvPr id="13" name="Text 11"/>
          <p:cNvSpPr/>
          <p:nvPr/>
        </p:nvSpPr>
        <p:spPr>
          <a:xfrm>
            <a:off x="2871216" y="1426464"/>
            <a:ext cx="9875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566928" y="1450891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252995" y="128528"/>
            <a:ext cx="1088136" cy="1243584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7" name="Image 0" descr="/mnt/data/gastromatch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56032"/>
            <a:ext cx="896112" cy="8961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26380" y="1101852"/>
            <a:ext cx="10058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Zeskanuj i przetestuj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5312664" y="1236382"/>
            <a:ext cx="10058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7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aplikację online</a:t>
            </a:r>
            <a:endParaRPr lang="en-US" sz="470" dirty="0"/>
          </a:p>
        </p:txBody>
      </p:sp>
      <p:sp>
        <p:nvSpPr>
          <p:cNvPr id="20" name="Shape 17"/>
          <p:cNvSpPr/>
          <p:nvPr/>
        </p:nvSpPr>
        <p:spPr>
          <a:xfrm>
            <a:off x="320040" y="1514899"/>
            <a:ext cx="6922008" cy="1191725"/>
          </a:xfrm>
          <a:prstGeom prst="roundRect">
            <a:avLst>
              <a:gd name="adj" fmla="val 20513"/>
            </a:avLst>
          </a:prstGeom>
          <a:solidFill>
            <a:srgbClr val="EAF7EA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21" name="Text 18"/>
          <p:cNvSpPr/>
          <p:nvPr/>
        </p:nvSpPr>
        <p:spPr>
          <a:xfrm>
            <a:off x="457200" y="1633771"/>
            <a:ext cx="1463040" cy="2133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 projektu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1883664"/>
            <a:ext cx="6519672" cy="6606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7500" lnSpcReduction="20000"/>
          </a:bodyPr>
          <a:lstStyle/>
          <a:p>
            <a:r>
              <a:rPr lang="pl-PL" sz="2000" dirty="0">
                <a:solidFill>
                  <a:srgbClr val="4F5D55"/>
                </a:solidFill>
                <a:latin typeface="Aptos" pitchFamily="34" charset="0"/>
              </a:rPr>
              <a:t>Celem projektu </a:t>
            </a:r>
            <a:r>
              <a:rPr lang="pl-PL" sz="2000" dirty="0" err="1">
                <a:solidFill>
                  <a:srgbClr val="4F5D55"/>
                </a:solidFill>
                <a:latin typeface="Aptos" pitchFamily="34" charset="0"/>
              </a:rPr>
              <a:t>GastroMatch</a:t>
            </a:r>
            <a:r>
              <a:rPr lang="pl-PL" sz="2000" dirty="0">
                <a:solidFill>
                  <a:srgbClr val="4F5D55"/>
                </a:solidFill>
                <a:latin typeface="Aptos" pitchFamily="34" charset="0"/>
              </a:rPr>
              <a:t> jest uproszczenie pierwszego wyboru oferty Gastro Paczki dla nowego użytkownika.</a:t>
            </a:r>
          </a:p>
          <a:p>
            <a:endParaRPr lang="pl-PL" sz="2000" dirty="0">
              <a:solidFill>
                <a:srgbClr val="4F5D55"/>
              </a:solidFill>
              <a:latin typeface="Aptos" pitchFamily="34" charset="0"/>
            </a:endParaRPr>
          </a:p>
          <a:p>
            <a:r>
              <a:rPr lang="pl-PL" sz="2000" dirty="0">
                <a:solidFill>
                  <a:srgbClr val="4F5D55"/>
                </a:solidFill>
                <a:latin typeface="Aptos" pitchFamily="34" charset="0"/>
              </a:rPr>
              <a:t>Prototyp wspiera klienta w przejściu od ogólnego zainteresowania cateringiem dietetycznym do konkretnej rekomendacji diety i wariantu paczki. Aplikacja prowadzi użytkownika przez krótki quiz, ogranicza liczbę decyzji i pomaga zrozumieć, która opcja najlepiej odpowiada jego stylowi życia, celowi oraz preferencjom.</a:t>
            </a:r>
          </a:p>
          <a:p>
            <a:pPr marL="0" indent="0" algn="l">
              <a:buNone/>
            </a:pP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84632" y="2869741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</a:t>
            </a:r>
            <a:r>
              <a:rPr lang="pl-PL" sz="13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3099817"/>
            <a:ext cx="299923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algn="just"/>
            <a:r>
              <a:rPr lang="pl-PL" sz="1300" dirty="0">
                <a:solidFill>
                  <a:srgbClr val="4F5D55"/>
                </a:solidFill>
                <a:latin typeface="Aptos" pitchFamily="34" charset="0"/>
              </a:rPr>
              <a:t>Nowy użytkownik Gastro Paczki może czuć się zagubiony przy pierwszym kontakcie z ofertą. Musi porównać wiele elementów: typ diety, liczbę posiłków, tryb dnia, kaloryczność, preferencje żywieniowe oraz wariant paczki.</a:t>
            </a:r>
          </a:p>
          <a:p>
            <a:pPr algn="just"/>
            <a:r>
              <a:rPr lang="pl-PL" sz="1300" dirty="0">
                <a:solidFill>
                  <a:srgbClr val="4F5D55"/>
                </a:solidFill>
                <a:latin typeface="Aptos" pitchFamily="34" charset="0"/>
              </a:rPr>
              <a:t>Szeroka oferta jest wartością biznesową, ale bez prostego prowadzenia może wydłużać proces decyzyjny, zwiększać niepewność klienta i utrudniać przejście do zamówienia.</a:t>
            </a:r>
          </a:p>
          <a:p>
            <a:pPr marL="0" indent="0" algn="just">
              <a:buNone/>
            </a:pP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3877056" y="2834640"/>
            <a:ext cx="3364992" cy="1115568"/>
          </a:xfrm>
          <a:prstGeom prst="roundRect">
            <a:avLst>
              <a:gd name="adj" fmla="val 12295"/>
            </a:avLst>
          </a:prstGeom>
          <a:solidFill>
            <a:srgbClr val="EAF7EA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4"/>
          <p:cNvSpPr/>
          <p:nvPr/>
        </p:nvSpPr>
        <p:spPr>
          <a:xfrm>
            <a:off x="4059936" y="2890979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Rozwiązanie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059936" y="3291840"/>
            <a:ext cx="2999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Aplikacja prowadzi użytkownika przez prosty quiz i wskazuje dietę, wariant paczki, alternatywy, uzasadnienie wyboru oraz kolejny krok w procesie decyzyjnym.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320040" y="4160520"/>
            <a:ext cx="6922008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7"/>
          <p:cNvSpPr/>
          <p:nvPr/>
        </p:nvSpPr>
        <p:spPr>
          <a:xfrm>
            <a:off x="502920" y="432511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działa prototyp?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02920" y="4663440"/>
            <a:ext cx="1143000" cy="530352"/>
          </a:xfrm>
          <a:prstGeom prst="roundRect">
            <a:avLst>
              <a:gd name="adj" fmla="val 20690"/>
            </a:avLst>
          </a:prstGeom>
          <a:solidFill>
            <a:srgbClr val="F1FAF1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29"/>
          <p:cNvSpPr/>
          <p:nvPr/>
        </p:nvSpPr>
        <p:spPr>
          <a:xfrm>
            <a:off x="594360" y="477316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0"/>
          <p:cNvSpPr/>
          <p:nvPr/>
        </p:nvSpPr>
        <p:spPr>
          <a:xfrm>
            <a:off x="640080" y="4818888"/>
            <a:ext cx="9144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832104" y="4773168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832104" y="49377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cel, styl życia, posiłki, preferencje</a:t>
            </a:r>
            <a:endParaRPr lang="en-US" sz="540" dirty="0"/>
          </a:p>
        </p:txBody>
      </p:sp>
      <p:sp>
        <p:nvSpPr>
          <p:cNvPr id="36" name="Shape 33"/>
          <p:cNvSpPr/>
          <p:nvPr/>
        </p:nvSpPr>
        <p:spPr>
          <a:xfrm>
            <a:off x="1874520" y="4663440"/>
            <a:ext cx="1143000" cy="530352"/>
          </a:xfrm>
          <a:prstGeom prst="roundRect">
            <a:avLst>
              <a:gd name="adj" fmla="val 20690"/>
            </a:avLst>
          </a:prstGeom>
          <a:solidFill>
            <a:srgbClr val="F1FAF1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4"/>
          <p:cNvSpPr/>
          <p:nvPr/>
        </p:nvSpPr>
        <p:spPr>
          <a:xfrm>
            <a:off x="1965960" y="477316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5"/>
          <p:cNvSpPr/>
          <p:nvPr/>
        </p:nvSpPr>
        <p:spPr>
          <a:xfrm>
            <a:off x="2011680" y="4818888"/>
            <a:ext cx="9144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80" dirty="0"/>
          </a:p>
        </p:txBody>
      </p:sp>
      <p:sp>
        <p:nvSpPr>
          <p:cNvPr id="39" name="Text 36"/>
          <p:cNvSpPr/>
          <p:nvPr/>
        </p:nvSpPr>
        <p:spPr>
          <a:xfrm>
            <a:off x="2203704" y="4773168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Matryca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2203704" y="49377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punkty dla diet i wariantów paczek</a:t>
            </a:r>
            <a:endParaRPr lang="en-US" sz="540" dirty="0"/>
          </a:p>
        </p:txBody>
      </p:sp>
      <p:sp>
        <p:nvSpPr>
          <p:cNvPr id="41" name="Shape 38"/>
          <p:cNvSpPr/>
          <p:nvPr/>
        </p:nvSpPr>
        <p:spPr>
          <a:xfrm>
            <a:off x="3246120" y="4663440"/>
            <a:ext cx="1143000" cy="530352"/>
          </a:xfrm>
          <a:prstGeom prst="roundRect">
            <a:avLst>
              <a:gd name="adj" fmla="val 20690"/>
            </a:avLst>
          </a:prstGeom>
          <a:solidFill>
            <a:srgbClr val="F1FAF1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Shape 39"/>
          <p:cNvSpPr/>
          <p:nvPr/>
        </p:nvSpPr>
        <p:spPr>
          <a:xfrm>
            <a:off x="3337560" y="477316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0"/>
          <p:cNvSpPr/>
          <p:nvPr/>
        </p:nvSpPr>
        <p:spPr>
          <a:xfrm>
            <a:off x="3383280" y="4818888"/>
            <a:ext cx="9144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80" dirty="0"/>
          </a:p>
        </p:txBody>
      </p:sp>
      <p:sp>
        <p:nvSpPr>
          <p:cNvPr id="44" name="Text 41"/>
          <p:cNvSpPr/>
          <p:nvPr/>
        </p:nvSpPr>
        <p:spPr>
          <a:xfrm>
            <a:off x="3575304" y="4773168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</a:t>
            </a:r>
            <a:endParaRPr lang="en-US" sz="760" dirty="0"/>
          </a:p>
        </p:txBody>
      </p:sp>
      <p:sp>
        <p:nvSpPr>
          <p:cNvPr id="45" name="Text 42"/>
          <p:cNvSpPr/>
          <p:nvPr/>
        </p:nvSpPr>
        <p:spPr>
          <a:xfrm>
            <a:off x="3575304" y="49377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rekomendacja główna i alternatywy</a:t>
            </a:r>
            <a:endParaRPr lang="en-US" sz="540" dirty="0"/>
          </a:p>
        </p:txBody>
      </p:sp>
      <p:sp>
        <p:nvSpPr>
          <p:cNvPr id="46" name="Shape 43"/>
          <p:cNvSpPr/>
          <p:nvPr/>
        </p:nvSpPr>
        <p:spPr>
          <a:xfrm>
            <a:off x="4617720" y="4663440"/>
            <a:ext cx="1143000" cy="530352"/>
          </a:xfrm>
          <a:prstGeom prst="roundRect">
            <a:avLst>
              <a:gd name="adj" fmla="val 20690"/>
            </a:avLst>
          </a:prstGeom>
          <a:solidFill>
            <a:srgbClr val="F1FAF1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4"/>
          <p:cNvSpPr/>
          <p:nvPr/>
        </p:nvSpPr>
        <p:spPr>
          <a:xfrm>
            <a:off x="4709160" y="477316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5"/>
          <p:cNvSpPr/>
          <p:nvPr/>
        </p:nvSpPr>
        <p:spPr>
          <a:xfrm>
            <a:off x="4754880" y="4818888"/>
            <a:ext cx="9144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80" dirty="0"/>
          </a:p>
        </p:txBody>
      </p:sp>
      <p:sp>
        <p:nvSpPr>
          <p:cNvPr id="49" name="Text 46"/>
          <p:cNvSpPr/>
          <p:nvPr/>
        </p:nvSpPr>
        <p:spPr>
          <a:xfrm>
            <a:off x="4946904" y="4773168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dalej?</a:t>
            </a:r>
            <a:endParaRPr lang="en-US" sz="760" dirty="0"/>
          </a:p>
        </p:txBody>
      </p:sp>
      <p:sp>
        <p:nvSpPr>
          <p:cNvPr id="50" name="Text 47"/>
          <p:cNvSpPr/>
          <p:nvPr/>
        </p:nvSpPr>
        <p:spPr>
          <a:xfrm>
            <a:off x="4946904" y="49377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zamówienie albo kalkulator kalorii</a:t>
            </a:r>
            <a:endParaRPr lang="en-US" sz="540" dirty="0"/>
          </a:p>
        </p:txBody>
      </p:sp>
      <p:sp>
        <p:nvSpPr>
          <p:cNvPr id="53" name="Text 50"/>
          <p:cNvSpPr/>
          <p:nvPr/>
        </p:nvSpPr>
        <p:spPr>
          <a:xfrm>
            <a:off x="6126480" y="4818888"/>
            <a:ext cx="9144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480" dirty="0"/>
          </a:p>
        </p:txBody>
      </p:sp>
      <p:sp>
        <p:nvSpPr>
          <p:cNvPr id="54" name="Text 51"/>
          <p:cNvSpPr/>
          <p:nvPr/>
        </p:nvSpPr>
        <p:spPr>
          <a:xfrm>
            <a:off x="6318504" y="4773168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55" name="Text 52"/>
          <p:cNvSpPr/>
          <p:nvPr/>
        </p:nvSpPr>
        <p:spPr>
          <a:xfrm>
            <a:off x="6318504" y="49377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540" dirty="0"/>
          </a:p>
        </p:txBody>
      </p:sp>
      <p:sp>
        <p:nvSpPr>
          <p:cNvPr id="56" name="Shape 53"/>
          <p:cNvSpPr/>
          <p:nvPr/>
        </p:nvSpPr>
        <p:spPr>
          <a:xfrm>
            <a:off x="320040" y="5623560"/>
            <a:ext cx="6922008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4"/>
          <p:cNvSpPr/>
          <p:nvPr/>
        </p:nvSpPr>
        <p:spPr>
          <a:xfrm>
            <a:off x="502920" y="5779008"/>
            <a:ext cx="3017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Wartość dla Gastro Paczki</a:t>
            </a:r>
            <a:endParaRPr lang="en-US" sz="1450" dirty="0"/>
          </a:p>
        </p:txBody>
      </p:sp>
      <p:sp>
        <p:nvSpPr>
          <p:cNvPr id="58" name="Shape 55"/>
          <p:cNvSpPr/>
          <p:nvPr/>
        </p:nvSpPr>
        <p:spPr>
          <a:xfrm>
            <a:off x="502920" y="6172200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6"/>
          <p:cNvSpPr/>
          <p:nvPr/>
        </p:nvSpPr>
        <p:spPr>
          <a:xfrm>
            <a:off x="612648" y="6263640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Szybszy wybór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612648" y="6464808"/>
            <a:ext cx="1764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krótsza ścieżka od wejścia na stronę do decyzji</a:t>
            </a:r>
            <a:endParaRPr lang="en-US" sz="640" dirty="0"/>
          </a:p>
        </p:txBody>
      </p:sp>
      <p:sp>
        <p:nvSpPr>
          <p:cNvPr id="61" name="Shape 58"/>
          <p:cNvSpPr/>
          <p:nvPr/>
        </p:nvSpPr>
        <p:spPr>
          <a:xfrm>
            <a:off x="2724912" y="6172200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59"/>
          <p:cNvSpPr/>
          <p:nvPr/>
        </p:nvSpPr>
        <p:spPr>
          <a:xfrm>
            <a:off x="2834640" y="6263640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Mniej niepewności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2834640" y="6464808"/>
            <a:ext cx="1764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użytkownik rozumie, dlaczego widzi rekomendację</a:t>
            </a:r>
            <a:endParaRPr lang="en-US" sz="640" dirty="0"/>
          </a:p>
        </p:txBody>
      </p:sp>
      <p:sp>
        <p:nvSpPr>
          <p:cNvPr id="64" name="Shape 61"/>
          <p:cNvSpPr/>
          <p:nvPr/>
        </p:nvSpPr>
        <p:spPr>
          <a:xfrm>
            <a:off x="4946904" y="6172200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2"/>
          <p:cNvSpPr/>
          <p:nvPr/>
        </p:nvSpPr>
        <p:spPr>
          <a:xfrm>
            <a:off x="5056632" y="6263640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Lepsze dopasowanie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5056632" y="6464808"/>
            <a:ext cx="1764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zawężona do potrzeb i stylu życia klienta</a:t>
            </a:r>
            <a:endParaRPr lang="en-US" sz="640" dirty="0"/>
          </a:p>
        </p:txBody>
      </p:sp>
      <p:sp>
        <p:nvSpPr>
          <p:cNvPr id="67" name="Shape 64"/>
          <p:cNvSpPr/>
          <p:nvPr/>
        </p:nvSpPr>
        <p:spPr>
          <a:xfrm>
            <a:off x="502920" y="6793992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8" name="Text 65"/>
          <p:cNvSpPr/>
          <p:nvPr/>
        </p:nvSpPr>
        <p:spPr>
          <a:xfrm>
            <a:off x="612648" y="6885432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Dane o potrzebach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612648" y="7086600"/>
            <a:ext cx="1764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najczęstszych celów i preferencji</a:t>
            </a:r>
            <a:endParaRPr lang="en-US" sz="640" dirty="0"/>
          </a:p>
        </p:txBody>
      </p:sp>
      <p:sp>
        <p:nvSpPr>
          <p:cNvPr id="70" name="Shape 67"/>
          <p:cNvSpPr/>
          <p:nvPr/>
        </p:nvSpPr>
        <p:spPr>
          <a:xfrm>
            <a:off x="2724912" y="6793992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71" name="Text 68"/>
          <p:cNvSpPr/>
          <p:nvPr/>
        </p:nvSpPr>
        <p:spPr>
          <a:xfrm>
            <a:off x="2834640" y="6885432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 err="1">
                <a:solidFill>
                  <a:srgbClr val="1F3D2B"/>
                </a:solidFill>
                <a:latin typeface="Aptos" pitchFamily="34" charset="0"/>
              </a:rPr>
              <a:t>Testowanie</a:t>
            </a:r>
            <a:r>
              <a:rPr lang="en-US" sz="750" dirty="0"/>
              <a:t> </a:t>
            </a:r>
            <a:r>
              <a:rPr lang="en-US" sz="750" b="1" dirty="0" err="1">
                <a:solidFill>
                  <a:srgbClr val="1F3D2B"/>
                </a:solidFill>
                <a:latin typeface="Aptos" pitchFamily="34" charset="0"/>
              </a:rPr>
              <a:t>ścieżki</a:t>
            </a:r>
            <a:r>
              <a:rPr lang="en-US" sz="750" dirty="0"/>
              <a:t> </a:t>
            </a:r>
            <a:r>
              <a:rPr lang="en-US" sz="750" b="1" dirty="0" err="1">
                <a:solidFill>
                  <a:srgbClr val="1F3D2B"/>
                </a:solidFill>
                <a:latin typeface="Aptos" pitchFamily="34" charset="0"/>
              </a:rPr>
              <a:t>wyboru</a:t>
            </a:r>
            <a:endParaRPr lang="en-US" sz="750" b="1" dirty="0">
              <a:solidFill>
                <a:srgbClr val="1F3D2B"/>
              </a:solidFill>
              <a:latin typeface="Aptos" pitchFamily="34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2834640" y="7050024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pl-PL" sz="640" dirty="0">
                <a:solidFill>
                  <a:srgbClr val="4F5D55"/>
                </a:solidFill>
                <a:latin typeface="Aptos" pitchFamily="34" charset="0"/>
              </a:rPr>
              <a:t>Sprawdzanie, które pytania I komunikaty najlepiej pomagają klientowi podjąć decyzję</a:t>
            </a:r>
            <a:endParaRPr lang="en-US" sz="640" dirty="0"/>
          </a:p>
        </p:txBody>
      </p:sp>
      <p:sp>
        <p:nvSpPr>
          <p:cNvPr id="73" name="Shape 70"/>
          <p:cNvSpPr/>
          <p:nvPr/>
        </p:nvSpPr>
        <p:spPr>
          <a:xfrm>
            <a:off x="4946904" y="6793992"/>
            <a:ext cx="1984248" cy="475488"/>
          </a:xfrm>
          <a:prstGeom prst="roundRect">
            <a:avLst>
              <a:gd name="adj" fmla="val 25000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4" name="Text 71"/>
          <p:cNvSpPr/>
          <p:nvPr/>
        </p:nvSpPr>
        <p:spPr>
          <a:xfrm>
            <a:off x="5056632" y="6885432"/>
            <a:ext cx="17647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Skalowalność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5056632" y="7086600"/>
            <a:ext cx="1764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rozwój o cennik, kalorie i konfigurator</a:t>
            </a:r>
            <a:endParaRPr lang="en-US" sz="640" dirty="0"/>
          </a:p>
        </p:txBody>
      </p:sp>
      <p:sp>
        <p:nvSpPr>
          <p:cNvPr id="76" name="Shape 73"/>
          <p:cNvSpPr/>
          <p:nvPr/>
        </p:nvSpPr>
        <p:spPr>
          <a:xfrm>
            <a:off x="320040" y="7726680"/>
            <a:ext cx="3364992" cy="153619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4"/>
          <p:cNvSpPr/>
          <p:nvPr/>
        </p:nvSpPr>
        <p:spPr>
          <a:xfrm>
            <a:off x="502920" y="7891272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Walidacja</a:t>
            </a:r>
            <a:endParaRPr lang="en-US" sz="1350" dirty="0"/>
          </a:p>
        </p:txBody>
      </p:sp>
      <p:sp>
        <p:nvSpPr>
          <p:cNvPr id="78" name="Text 75"/>
          <p:cNvSpPr/>
          <p:nvPr/>
        </p:nvSpPr>
        <p:spPr>
          <a:xfrm>
            <a:off x="502920" y="8156448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jest sprawdzany w badaniu pilotażowym. Respondenci porównują samodzielny wybór oferty z wyborem przy użyciu GastroMatch.</a:t>
            </a:r>
            <a:endParaRPr lang="en-US" sz="760" dirty="0"/>
          </a:p>
        </p:txBody>
      </p:sp>
      <p:sp>
        <p:nvSpPr>
          <p:cNvPr id="79" name="Text 76"/>
          <p:cNvSpPr/>
          <p:nvPr/>
        </p:nvSpPr>
        <p:spPr>
          <a:xfrm>
            <a:off x="502920" y="8558784"/>
            <a:ext cx="2971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Mierzone wskaźniki: czas wyboru, łatwość procesu, pewność decyzji, zrozumienie rekomendacji i chęć użycia narzędzia.</a:t>
            </a:r>
            <a:endParaRPr lang="en-US" sz="740" dirty="0"/>
          </a:p>
        </p:txBody>
      </p:sp>
      <p:sp>
        <p:nvSpPr>
          <p:cNvPr id="80" name="Shape 77"/>
          <p:cNvSpPr/>
          <p:nvPr/>
        </p:nvSpPr>
        <p:spPr>
          <a:xfrm>
            <a:off x="3877056" y="7726680"/>
            <a:ext cx="3364992" cy="1536192"/>
          </a:xfrm>
          <a:prstGeom prst="roundRect">
            <a:avLst>
              <a:gd name="adj" fmla="val 8929"/>
            </a:avLst>
          </a:prstGeom>
          <a:solidFill>
            <a:srgbClr val="F1FAF1"/>
          </a:solidFill>
          <a:ln w="10160">
            <a:solidFill>
              <a:srgbClr val="8BCF8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8"/>
          <p:cNvSpPr/>
          <p:nvPr/>
        </p:nvSpPr>
        <p:spPr>
          <a:xfrm>
            <a:off x="4059936" y="7891272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Miejsce na wyniki badania</a:t>
            </a:r>
            <a:endParaRPr lang="en-US" sz="1350" dirty="0"/>
          </a:p>
        </p:txBody>
      </p:sp>
      <p:sp>
        <p:nvSpPr>
          <p:cNvPr id="82" name="Text 79"/>
          <p:cNvSpPr/>
          <p:nvPr/>
        </p:nvSpPr>
        <p:spPr>
          <a:xfrm>
            <a:off x="4059936" y="8211312"/>
            <a:ext cx="15087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Liczba respondentów</a:t>
            </a:r>
            <a:endParaRPr lang="en-US" sz="680" dirty="0"/>
          </a:p>
        </p:txBody>
      </p:sp>
      <p:sp>
        <p:nvSpPr>
          <p:cNvPr id="83" name="Text 80"/>
          <p:cNvSpPr/>
          <p:nvPr/>
        </p:nvSpPr>
        <p:spPr>
          <a:xfrm>
            <a:off x="5715000" y="8211312"/>
            <a:ext cx="10972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uzupełnienia</a:t>
            </a:r>
            <a:endParaRPr lang="en-US" sz="680" dirty="0"/>
          </a:p>
        </p:txBody>
      </p:sp>
      <p:sp>
        <p:nvSpPr>
          <p:cNvPr id="84" name="Shape 81"/>
          <p:cNvSpPr/>
          <p:nvPr/>
        </p:nvSpPr>
        <p:spPr>
          <a:xfrm>
            <a:off x="4059936" y="8357616"/>
            <a:ext cx="2834640" cy="0"/>
          </a:xfrm>
          <a:prstGeom prst="line">
            <a:avLst/>
          </a:prstGeom>
          <a:noFill/>
          <a:ln w="635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2"/>
          <p:cNvSpPr/>
          <p:nvPr/>
        </p:nvSpPr>
        <p:spPr>
          <a:xfrm>
            <a:off x="4059936" y="8439912"/>
            <a:ext cx="15087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Łatwość wyboru</a:t>
            </a:r>
            <a:endParaRPr lang="en-US" sz="680" dirty="0"/>
          </a:p>
        </p:txBody>
      </p:sp>
      <p:sp>
        <p:nvSpPr>
          <p:cNvPr id="86" name="Text 83"/>
          <p:cNvSpPr/>
          <p:nvPr/>
        </p:nvSpPr>
        <p:spPr>
          <a:xfrm>
            <a:off x="5715000" y="8439912"/>
            <a:ext cx="10972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uzupełnienia</a:t>
            </a:r>
            <a:endParaRPr lang="en-US" sz="680" dirty="0"/>
          </a:p>
        </p:txBody>
      </p:sp>
      <p:sp>
        <p:nvSpPr>
          <p:cNvPr id="87" name="Shape 84"/>
          <p:cNvSpPr/>
          <p:nvPr/>
        </p:nvSpPr>
        <p:spPr>
          <a:xfrm>
            <a:off x="4059936" y="8586216"/>
            <a:ext cx="2834640" cy="0"/>
          </a:xfrm>
          <a:prstGeom prst="line">
            <a:avLst/>
          </a:prstGeom>
          <a:noFill/>
          <a:ln w="635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8" name="Text 85"/>
          <p:cNvSpPr/>
          <p:nvPr/>
        </p:nvSpPr>
        <p:spPr>
          <a:xfrm>
            <a:off x="4059936" y="8668512"/>
            <a:ext cx="15087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Pewność decyzji</a:t>
            </a:r>
            <a:endParaRPr lang="en-US" sz="680" dirty="0"/>
          </a:p>
        </p:txBody>
      </p:sp>
      <p:sp>
        <p:nvSpPr>
          <p:cNvPr id="89" name="Text 86"/>
          <p:cNvSpPr/>
          <p:nvPr/>
        </p:nvSpPr>
        <p:spPr>
          <a:xfrm>
            <a:off x="5715000" y="8668512"/>
            <a:ext cx="10972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uzupełnienia</a:t>
            </a:r>
            <a:endParaRPr lang="en-US" sz="680" dirty="0"/>
          </a:p>
        </p:txBody>
      </p:sp>
      <p:sp>
        <p:nvSpPr>
          <p:cNvPr id="90" name="Shape 87"/>
          <p:cNvSpPr/>
          <p:nvPr/>
        </p:nvSpPr>
        <p:spPr>
          <a:xfrm>
            <a:off x="4059936" y="8814816"/>
            <a:ext cx="2834640" cy="0"/>
          </a:xfrm>
          <a:prstGeom prst="line">
            <a:avLst/>
          </a:prstGeom>
          <a:noFill/>
          <a:ln w="635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8"/>
          <p:cNvSpPr/>
          <p:nvPr/>
        </p:nvSpPr>
        <p:spPr>
          <a:xfrm>
            <a:off x="4059936" y="8897112"/>
            <a:ext cx="15087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4F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Czas wyboru</a:t>
            </a:r>
            <a:endParaRPr lang="en-US" sz="680" dirty="0"/>
          </a:p>
        </p:txBody>
      </p:sp>
      <p:sp>
        <p:nvSpPr>
          <p:cNvPr id="92" name="Text 89"/>
          <p:cNvSpPr/>
          <p:nvPr/>
        </p:nvSpPr>
        <p:spPr>
          <a:xfrm>
            <a:off x="5715000" y="8897112"/>
            <a:ext cx="10972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uzupełnienia</a:t>
            </a:r>
            <a:endParaRPr lang="en-US" sz="680" dirty="0"/>
          </a:p>
        </p:txBody>
      </p:sp>
      <p:sp>
        <p:nvSpPr>
          <p:cNvPr id="93" name="Shape 90"/>
          <p:cNvSpPr/>
          <p:nvPr/>
        </p:nvSpPr>
        <p:spPr>
          <a:xfrm>
            <a:off x="4059936" y="9043416"/>
            <a:ext cx="2834640" cy="0"/>
          </a:xfrm>
          <a:prstGeom prst="line">
            <a:avLst/>
          </a:prstGeom>
          <a:noFill/>
          <a:ln w="635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4" name="Shape 91"/>
          <p:cNvSpPr/>
          <p:nvPr/>
        </p:nvSpPr>
        <p:spPr>
          <a:xfrm>
            <a:off x="320040" y="9464040"/>
            <a:ext cx="692200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2"/>
          <p:cNvSpPr/>
          <p:nvPr/>
        </p:nvSpPr>
        <p:spPr>
          <a:xfrm>
            <a:off x="502920" y="9582912"/>
            <a:ext cx="1508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Załączniki projektu</a:t>
            </a:r>
            <a:endParaRPr lang="en-US" sz="1260" dirty="0"/>
          </a:p>
        </p:txBody>
      </p:sp>
      <p:sp>
        <p:nvSpPr>
          <p:cNvPr id="96" name="Shape 93"/>
          <p:cNvSpPr/>
          <p:nvPr/>
        </p:nvSpPr>
        <p:spPr>
          <a:xfrm>
            <a:off x="2240280" y="957376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4"/>
          <p:cNvSpPr/>
          <p:nvPr/>
        </p:nvSpPr>
        <p:spPr>
          <a:xfrm>
            <a:off x="2286000" y="9665208"/>
            <a:ext cx="74980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do aplikacji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3145536" y="9582912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99" name="Text 96"/>
          <p:cNvSpPr/>
          <p:nvPr/>
        </p:nvSpPr>
        <p:spPr>
          <a:xfrm>
            <a:off x="3212761" y="9628632"/>
            <a:ext cx="74980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sz="600" b="1" dirty="0">
                <a:solidFill>
                  <a:srgbClr val="1F3D2B"/>
                </a:solidFill>
                <a:latin typeface="Aptos" pitchFamily="34" charset="0"/>
              </a:rPr>
              <a:t>Logika </a:t>
            </a:r>
            <a:r>
              <a:rPr lang="en-US" sz="600" b="1" dirty="0" err="1">
                <a:solidFill>
                  <a:srgbClr val="1F3D2B"/>
                </a:solidFill>
                <a:latin typeface="Aptos" pitchFamily="34" charset="0"/>
              </a:rPr>
              <a:t>rekomendacji</a:t>
            </a:r>
            <a:r>
              <a:rPr lang="en-US" sz="600" b="1" dirty="0">
                <a:solidFill>
                  <a:srgbClr val="1F3D2B"/>
                </a:solidFill>
                <a:latin typeface="Aptos" pitchFamily="34" charset="0"/>
              </a:rPr>
              <a:t> + </a:t>
            </a:r>
            <a:r>
              <a:rPr lang="en-US" sz="600" b="1" dirty="0" err="1">
                <a:solidFill>
                  <a:srgbClr val="1F3D2B"/>
                </a:solidFill>
                <a:latin typeface="Aptos" pitchFamily="34" charset="0"/>
              </a:rPr>
              <a:t>symulator</a:t>
            </a:r>
            <a:r>
              <a:rPr lang="en-US" sz="600" b="1" dirty="0">
                <a:solidFill>
                  <a:srgbClr val="1F3D2B"/>
                </a:solidFill>
                <a:latin typeface="Aptos" pitchFamily="34" charset="0"/>
              </a:rPr>
              <a:t> XLSX</a:t>
            </a:r>
          </a:p>
        </p:txBody>
      </p:sp>
      <p:sp>
        <p:nvSpPr>
          <p:cNvPr id="100" name="Shape 97"/>
          <p:cNvSpPr/>
          <p:nvPr/>
        </p:nvSpPr>
        <p:spPr>
          <a:xfrm>
            <a:off x="4142232" y="957376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8"/>
          <p:cNvSpPr/>
          <p:nvPr/>
        </p:nvSpPr>
        <p:spPr>
          <a:xfrm>
            <a:off x="4187952" y="9665208"/>
            <a:ext cx="74980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600" b="1" dirty="0" err="1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Ankieta</a:t>
            </a:r>
            <a:r>
              <a:rPr lang="en-US" sz="60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600" b="1" dirty="0" err="1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badawcza</a:t>
            </a:r>
            <a:endParaRPr lang="en-US" sz="600" dirty="0"/>
          </a:p>
        </p:txBody>
      </p:sp>
      <p:sp>
        <p:nvSpPr>
          <p:cNvPr id="102" name="Shape 99"/>
          <p:cNvSpPr/>
          <p:nvPr/>
        </p:nvSpPr>
        <p:spPr>
          <a:xfrm>
            <a:off x="5093208" y="957376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0"/>
          <p:cNvSpPr/>
          <p:nvPr/>
        </p:nvSpPr>
        <p:spPr>
          <a:xfrm>
            <a:off x="5138928" y="9665208"/>
            <a:ext cx="74980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Wyniki badania</a:t>
            </a:r>
            <a:endParaRPr lang="en-US" sz="600" dirty="0"/>
          </a:p>
        </p:txBody>
      </p:sp>
      <p:sp>
        <p:nvSpPr>
          <p:cNvPr id="104" name="Shape 101"/>
          <p:cNvSpPr/>
          <p:nvPr/>
        </p:nvSpPr>
        <p:spPr>
          <a:xfrm>
            <a:off x="6044184" y="9573768"/>
            <a:ext cx="841248" cy="310896"/>
          </a:xfrm>
          <a:prstGeom prst="roundRect">
            <a:avLst>
              <a:gd name="adj" fmla="val 29412"/>
            </a:avLst>
          </a:prstGeom>
          <a:solidFill>
            <a:srgbClr val="F8FBF8"/>
          </a:solidFill>
          <a:ln w="1016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105" name="Text 102"/>
          <p:cNvSpPr/>
          <p:nvPr/>
        </p:nvSpPr>
        <p:spPr>
          <a:xfrm>
            <a:off x="6089904" y="9665208"/>
            <a:ext cx="74980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Prezentacja</a:t>
            </a:r>
            <a:endParaRPr lang="en-US" sz="600" dirty="0"/>
          </a:p>
        </p:txBody>
      </p:sp>
      <p:sp>
        <p:nvSpPr>
          <p:cNvPr id="106" name="Shape 103"/>
          <p:cNvSpPr/>
          <p:nvPr/>
        </p:nvSpPr>
        <p:spPr>
          <a:xfrm>
            <a:off x="320040" y="10332720"/>
            <a:ext cx="6922008" cy="0"/>
          </a:xfrm>
          <a:prstGeom prst="line">
            <a:avLst/>
          </a:prstGeom>
          <a:noFill/>
          <a:ln w="762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4"/>
          <p:cNvSpPr/>
          <p:nvPr/>
        </p:nvSpPr>
        <p:spPr>
          <a:xfrm>
            <a:off x="320040" y="10424160"/>
            <a:ext cx="164592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prototyp konkursowy</a:t>
            </a:r>
            <a:endParaRPr lang="en-US" sz="670" dirty="0"/>
          </a:p>
        </p:txBody>
      </p:sp>
      <p:sp>
        <p:nvSpPr>
          <p:cNvPr id="108" name="Text 105"/>
          <p:cNvSpPr/>
          <p:nvPr/>
        </p:nvSpPr>
        <p:spPr>
          <a:xfrm>
            <a:off x="2148840" y="10424160"/>
            <a:ext cx="27432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789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Technologie: Python · Streamlit · GitHub · Streamlit Cloud</a:t>
            </a:r>
            <a:endParaRPr lang="en-US" sz="670" dirty="0"/>
          </a:p>
        </p:txBody>
      </p:sp>
      <p:sp>
        <p:nvSpPr>
          <p:cNvPr id="109" name="Text 106"/>
          <p:cNvSpPr/>
          <p:nvPr/>
        </p:nvSpPr>
        <p:spPr>
          <a:xfrm>
            <a:off x="5257800" y="10424160"/>
            <a:ext cx="17373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gastromatch-dorota.streamlit.app</a:t>
            </a:r>
            <a:endParaRPr lang="en-US" sz="670" dirty="0"/>
          </a:p>
        </p:txBody>
      </p:sp>
      <p:cxnSp>
        <p:nvCxnSpPr>
          <p:cNvPr id="112" name="Łącznik prosty ze strzałką 111">
            <a:extLst>
              <a:ext uri="{FF2B5EF4-FFF2-40B4-BE49-F238E27FC236}">
                <a16:creationId xmlns:a16="http://schemas.microsoft.com/office/drawing/2014/main" id="{1D9D8857-D16C-3A87-E680-0EFD4DCAF438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>
            <a:off x="1645920" y="4928616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4" name="Łącznik prosty ze strzałką 113">
            <a:extLst>
              <a:ext uri="{FF2B5EF4-FFF2-40B4-BE49-F238E27FC236}">
                <a16:creationId xmlns:a16="http://schemas.microsoft.com/office/drawing/2014/main" id="{92C5091B-8835-BE5A-75BD-68E3AF09CA0B}"/>
              </a:ext>
            </a:extLst>
          </p:cNvPr>
          <p:cNvCxnSpPr/>
          <p:nvPr/>
        </p:nvCxnSpPr>
        <p:spPr>
          <a:xfrm>
            <a:off x="3017520" y="4924161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5" name="Łącznik prosty ze strzałką 114">
            <a:extLst>
              <a:ext uri="{FF2B5EF4-FFF2-40B4-BE49-F238E27FC236}">
                <a16:creationId xmlns:a16="http://schemas.microsoft.com/office/drawing/2014/main" id="{0CB9C033-18C7-385C-C1F0-99B19A441F90}"/>
              </a:ext>
            </a:extLst>
          </p:cNvPr>
          <p:cNvCxnSpPr/>
          <p:nvPr/>
        </p:nvCxnSpPr>
        <p:spPr>
          <a:xfrm>
            <a:off x="4389120" y="4901184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6" name="pole tekstowe 115">
            <a:extLst>
              <a:ext uri="{FF2B5EF4-FFF2-40B4-BE49-F238E27FC236}">
                <a16:creationId xmlns:a16="http://schemas.microsoft.com/office/drawing/2014/main" id="{723F2450-81C0-FD03-C250-E185C2323505}"/>
              </a:ext>
            </a:extLst>
          </p:cNvPr>
          <p:cNvSpPr txBox="1"/>
          <p:nvPr/>
        </p:nvSpPr>
        <p:spPr>
          <a:xfrm>
            <a:off x="352044" y="1172761"/>
            <a:ext cx="3675888" cy="25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70" b="1" dirty="0">
                <a:solidFill>
                  <a:srgbClr val="4F5D55"/>
                </a:solidFill>
                <a:latin typeface="Aptos" pitchFamily="34" charset="0"/>
              </a:rPr>
              <a:t>Link</a:t>
            </a:r>
            <a:r>
              <a:rPr lang="pl-PL" sz="900" dirty="0"/>
              <a:t> </a:t>
            </a:r>
            <a:r>
              <a:rPr lang="pl-PL" sz="1070" b="1" dirty="0">
                <a:solidFill>
                  <a:srgbClr val="4F5D55"/>
                </a:solidFill>
                <a:latin typeface="Aptos" pitchFamily="34" charset="0"/>
              </a:rPr>
              <a:t>do</a:t>
            </a:r>
            <a:r>
              <a:rPr lang="pl-PL" sz="900" dirty="0"/>
              <a:t> </a:t>
            </a:r>
            <a:r>
              <a:rPr lang="pl-PL" sz="1070" b="1" dirty="0">
                <a:solidFill>
                  <a:srgbClr val="4F5D55"/>
                </a:solidFill>
                <a:latin typeface="Aptos" pitchFamily="34" charset="0"/>
              </a:rPr>
              <a:t>aplikacji</a:t>
            </a:r>
            <a:r>
              <a:rPr lang="pl-PL" sz="900" dirty="0"/>
              <a:t>: </a:t>
            </a:r>
            <a:r>
              <a:rPr lang="en-US" sz="800" b="1" dirty="0" err="1">
                <a:solidFill>
                  <a:srgbClr val="1F3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gastromatch-dorota.streamlit.app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368</Words>
  <Application>Microsoft Office PowerPoint</Application>
  <PresentationFormat>Niestandardowy</PresentationFormat>
  <Paragraphs>65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Prezentacja programu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GastroMatch — one-pager projektu</dc:title>
  <dc:subject>One-pager do Canvy</dc:subject>
  <dc:creator>OpenAI</dc:creator>
  <cp:lastModifiedBy>Dorota 157726</cp:lastModifiedBy>
  <cp:revision>3</cp:revision>
  <dcterms:created xsi:type="dcterms:W3CDTF">2026-06-06T19:39:49Z</dcterms:created>
  <dcterms:modified xsi:type="dcterms:W3CDTF">2026-06-06T20:24:14Z</dcterms:modified>
</cp:coreProperties>
</file>